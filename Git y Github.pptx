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6a7db9bf73c036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6a7db9bf73c036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6a7db9bf73c036c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h6a7db9bf73c036c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6a7db9bf73c036c5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6a7db9bf73c036c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6a7db9bf73c036c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h6a7db9bf73c036c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h6a7db9bf73c036c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h6a7db9bf73c036c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6a7db9bf73c036c5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6a7db9bf73c036c5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6a7db9bf73c036c5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h6a7db9bf73c036c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6a7db9bf73c036c5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h6a7db9bf73c036c5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6a7db9bf73c036c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h6a7db9bf73c036c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6a7db9bf73c036c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h6a7db9bf73c036c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27.png"/><Relationship Id="rId5" Type="http://schemas.openxmlformats.org/officeDocument/2006/relationships/image" Target="../media/image18.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17.png"/><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solidFill>
            <a:schemeClr val="lt2"/>
          </a:solidFill>
        </p:spPr>
        <p:txBody>
          <a:bodyPr anchorCtr="0" anchor="b" bIns="91425" lIns="91425" spcFirstLastPara="1" rIns="91425" wrap="square" tIns="91425">
            <a:normAutofit/>
          </a:bodyPr>
          <a:lstStyle/>
          <a:p>
            <a:pPr indent="0" lvl="0" marL="0" rtl="0" algn="ctr">
              <a:spcBef>
                <a:spcPts val="0"/>
              </a:spcBef>
              <a:spcAft>
                <a:spcPts val="0"/>
              </a:spcAft>
              <a:buNone/>
            </a:pPr>
            <a:r>
              <a:rPr lang="es-419">
                <a:latin typeface="Comic Sans MS"/>
                <a:ea typeface="Comic Sans MS"/>
                <a:cs typeface="Comic Sans MS"/>
                <a:sym typeface="Comic Sans MS"/>
              </a:rPr>
              <a:t>G</a:t>
            </a:r>
            <a:r>
              <a:rPr lang="es-419">
                <a:latin typeface="Comic Sans MS"/>
                <a:ea typeface="Comic Sans MS"/>
                <a:cs typeface="Comic Sans MS"/>
                <a:sym typeface="Comic Sans MS"/>
              </a:rPr>
              <a:t>it y Github</a:t>
            </a:r>
            <a:endParaRPr>
              <a:latin typeface="Comic Sans MS"/>
              <a:ea typeface="Comic Sans MS"/>
              <a:cs typeface="Comic Sans MS"/>
              <a:sym typeface="Comic Sans MS"/>
            </a:endParaRPr>
          </a:p>
        </p:txBody>
      </p:sp>
      <p:sp>
        <p:nvSpPr>
          <p:cNvPr id="55" name="Google Shape;55;p13"/>
          <p:cNvSpPr txBox="1"/>
          <p:nvPr>
            <p:ph idx="1" type="subTitle"/>
          </p:nvPr>
        </p:nvSpPr>
        <p:spPr>
          <a:xfrm>
            <a:off x="311700" y="2834125"/>
            <a:ext cx="8520600" cy="9345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i="1" lang="es-419">
                <a:latin typeface="Times New Roman"/>
                <a:ea typeface="Times New Roman"/>
                <a:cs typeface="Times New Roman"/>
                <a:sym typeface="Times New Roman"/>
              </a:rPr>
              <a:t>Johan Sebastian Ospina Fontecha</a:t>
            </a:r>
            <a:endParaRPr i="1">
              <a:latin typeface="Times New Roman"/>
              <a:ea typeface="Times New Roman"/>
              <a:cs typeface="Times New Roman"/>
              <a:sym typeface="Times New Roman"/>
            </a:endParaRPr>
          </a:p>
          <a:p>
            <a:pPr indent="0" lvl="0" marL="0" rtl="0" algn="ctr">
              <a:spcBef>
                <a:spcPts val="0"/>
              </a:spcBef>
              <a:spcAft>
                <a:spcPts val="0"/>
              </a:spcAft>
              <a:buNone/>
            </a:pPr>
            <a:r>
              <a:t/>
            </a:r>
            <a:endParaRPr i="1">
              <a:latin typeface="Times New Roman"/>
              <a:ea typeface="Times New Roman"/>
              <a:cs typeface="Times New Roman"/>
              <a:sym typeface="Times New Roman"/>
            </a:endParaRPr>
          </a:p>
          <a:p>
            <a:pPr indent="0" lvl="0" marL="0" rtl="0" algn="ctr">
              <a:spcBef>
                <a:spcPts val="0"/>
              </a:spcBef>
              <a:spcAft>
                <a:spcPts val="0"/>
              </a:spcAft>
              <a:buNone/>
            </a:pPr>
            <a:r>
              <a:rPr i="1" lang="es-419">
                <a:latin typeface="Times New Roman"/>
                <a:ea typeface="Times New Roman"/>
                <a:cs typeface="Times New Roman"/>
                <a:sym typeface="Times New Roman"/>
              </a:rPr>
              <a:t>Fecha: 09/10/2026</a:t>
            </a:r>
            <a:endParaRPr i="1">
              <a:latin typeface="Times New Roman"/>
              <a:ea typeface="Times New Roman"/>
              <a:cs typeface="Times New Roman"/>
              <a:sym typeface="Times New Roman"/>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latin typeface="Times New Roman"/>
                <a:ea typeface="Times New Roman"/>
                <a:cs typeface="Times New Roman"/>
                <a:sym typeface="Times New Roman"/>
              </a:rPr>
              <a:t>¿ Que es git?</a:t>
            </a:r>
            <a:endParaRPr>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543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solidFill>
                  <a:schemeClr val="dk1"/>
                </a:solidFill>
                <a:highlight>
                  <a:schemeClr val="lt1"/>
                </a:highlight>
                <a:latin typeface="Times New Roman"/>
                <a:ea typeface="Times New Roman"/>
                <a:cs typeface="Times New Roman"/>
                <a:sym typeface="Times New Roman"/>
              </a:rPr>
              <a:t>Git es un sistema de control de versiones distribuido, lo que implica que el repositorio local del proyecto contiene toda la historia de las versiones. Estos repositorios locales completamente funcionales hacen más fácil trabajar de manera remota o sin conexión. Los desarrolladores confirman su trabajo localmente y, a continuación, sincronizan su copia del repositorio con la copia en el servidor. </a:t>
            </a:r>
            <a:endParaRPr>
              <a:solidFill>
                <a:schemeClr val="dk1"/>
              </a:solidFill>
              <a:highlight>
                <a:schemeClr val="lt1"/>
              </a:highlight>
              <a:latin typeface="Times New Roman"/>
              <a:ea typeface="Times New Roman"/>
              <a:cs typeface="Times New Roman"/>
              <a:sym typeface="Times New Roman"/>
            </a:endParaRPr>
          </a:p>
        </p:txBody>
      </p:sp>
      <p:pic>
        <p:nvPicPr>
          <p:cNvPr id="62" name="Google Shape;62;p14"/>
          <p:cNvPicPr preferRelativeResize="0"/>
          <p:nvPr/>
        </p:nvPicPr>
        <p:blipFill>
          <a:blip r:embed="rId3">
            <a:alphaModFix/>
          </a:blip>
          <a:stretch>
            <a:fillRect/>
          </a:stretch>
        </p:blipFill>
        <p:spPr>
          <a:xfrm>
            <a:off x="5874500" y="1572038"/>
            <a:ext cx="3096600" cy="1999424"/>
          </a:xfrm>
          <a:prstGeom prst="rect">
            <a:avLst/>
          </a:prstGeom>
          <a:noFill/>
          <a:ln>
            <a:noFill/>
          </a:ln>
        </p:spPr>
      </p:pic>
      <p:sp>
        <p:nvSpPr>
          <p:cNvPr id="63" name="Google Shape;63;p14"/>
          <p:cNvSpPr txBox="1"/>
          <p:nvPr/>
        </p:nvSpPr>
        <p:spPr>
          <a:xfrm>
            <a:off x="5922800" y="3571450"/>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419" sz="800">
                <a:latin typeface="Times New Roman"/>
                <a:ea typeface="Times New Roman"/>
                <a:cs typeface="Times New Roman"/>
                <a:sym typeface="Times New Roman"/>
              </a:rPr>
              <a:t>https://n9.cl/ep9xd</a:t>
            </a:r>
            <a:endParaRPr i="1" sz="800">
              <a:latin typeface="Times New Roman"/>
              <a:ea typeface="Times New Roman"/>
              <a:cs typeface="Times New Roman"/>
              <a:sym typeface="Times New Roman"/>
            </a:endParaRPr>
          </a:p>
        </p:txBody>
      </p:sp>
      <p:sp>
        <p:nvSpPr>
          <p:cNvPr id="64" name="Google Shape;64;p14"/>
          <p:cNvSpPr txBox="1"/>
          <p:nvPr/>
        </p:nvSpPr>
        <p:spPr>
          <a:xfrm>
            <a:off x="5874500" y="12642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419" sz="1000">
                <a:solidFill>
                  <a:schemeClr val="dk1"/>
                </a:solidFill>
                <a:latin typeface="Times New Roman"/>
                <a:ea typeface="Times New Roman"/>
                <a:cs typeface="Times New Roman"/>
                <a:sym typeface="Times New Roman"/>
              </a:rPr>
              <a:t>Figura 1</a:t>
            </a:r>
            <a:endParaRPr i="1" sz="10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latin typeface="Times New Roman"/>
                <a:ea typeface="Times New Roman"/>
                <a:cs typeface="Times New Roman"/>
                <a:sym typeface="Times New Roman"/>
              </a:rPr>
              <a:t>¿Que es github?</a:t>
            </a:r>
            <a:endParaRPr>
              <a:latin typeface="Times New Roman"/>
              <a:ea typeface="Times New Roman"/>
              <a:cs typeface="Times New Roman"/>
              <a:sym typeface="Times New Roman"/>
            </a:endParaRPr>
          </a:p>
        </p:txBody>
      </p:sp>
      <p:sp>
        <p:nvSpPr>
          <p:cNvPr id="70" name="Google Shape;70;p15"/>
          <p:cNvSpPr txBox="1"/>
          <p:nvPr>
            <p:ph idx="1" type="body"/>
          </p:nvPr>
        </p:nvSpPr>
        <p:spPr>
          <a:xfrm>
            <a:off x="311700" y="1152475"/>
            <a:ext cx="5632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chemeClr val="dk1"/>
                </a:solidFill>
                <a:highlight>
                  <a:srgbClr val="FFFFFF"/>
                </a:highlight>
                <a:latin typeface="Times New Roman"/>
                <a:ea typeface="Times New Roman"/>
                <a:cs typeface="Times New Roman"/>
                <a:sym typeface="Times New Roman"/>
              </a:rPr>
              <a:t>GitHub es una plataforma web que proporciona un espacio para almacenar, compartir y colaborar en proyectos de software que utilizan Git.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1200"/>
              </a:spcBef>
              <a:spcAft>
                <a:spcPts val="1200"/>
              </a:spcAft>
              <a:buNone/>
            </a:pPr>
            <a:r>
              <a:rPr lang="es-419">
                <a:solidFill>
                  <a:schemeClr val="dk1"/>
                </a:solidFill>
                <a:highlight>
                  <a:srgbClr val="FFFFFF"/>
                </a:highlight>
                <a:latin typeface="Times New Roman"/>
                <a:ea typeface="Times New Roman"/>
                <a:cs typeface="Times New Roman"/>
                <a:sym typeface="Times New Roman"/>
              </a:rPr>
              <a:t>El sistema de control de versiones que utiliza es el Git, gracias a ello se pueden rastrear los cambios en el código, siendo clave a la hora de trabajar en proyectos tanto individuales como en equipo.</a:t>
            </a:r>
            <a:r>
              <a:rPr lang="es-419">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p:txBody>
      </p:sp>
      <p:pic>
        <p:nvPicPr>
          <p:cNvPr id="71" name="Google Shape;71;p15"/>
          <p:cNvPicPr preferRelativeResize="0"/>
          <p:nvPr/>
        </p:nvPicPr>
        <p:blipFill>
          <a:blip r:embed="rId3">
            <a:alphaModFix/>
          </a:blip>
          <a:stretch>
            <a:fillRect/>
          </a:stretch>
        </p:blipFill>
        <p:spPr>
          <a:xfrm>
            <a:off x="5943900" y="1573675"/>
            <a:ext cx="2895301" cy="1930200"/>
          </a:xfrm>
          <a:prstGeom prst="rect">
            <a:avLst/>
          </a:prstGeom>
          <a:noFill/>
          <a:ln>
            <a:noFill/>
          </a:ln>
        </p:spPr>
      </p:pic>
      <p:sp>
        <p:nvSpPr>
          <p:cNvPr id="72" name="Google Shape;72;p15"/>
          <p:cNvSpPr txBox="1"/>
          <p:nvPr/>
        </p:nvSpPr>
        <p:spPr>
          <a:xfrm>
            <a:off x="5943900" y="356352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419" sz="800">
                <a:latin typeface="Times New Roman"/>
                <a:ea typeface="Times New Roman"/>
                <a:cs typeface="Times New Roman"/>
                <a:sym typeface="Times New Roman"/>
              </a:rPr>
              <a:t>https://n9.cl/e2t1p</a:t>
            </a:r>
            <a:endParaRPr i="1" sz="800">
              <a:latin typeface="Times New Roman"/>
              <a:ea typeface="Times New Roman"/>
              <a:cs typeface="Times New Roman"/>
              <a:sym typeface="Times New Roman"/>
            </a:endParaRPr>
          </a:p>
        </p:txBody>
      </p:sp>
      <p:sp>
        <p:nvSpPr>
          <p:cNvPr id="73" name="Google Shape;73;p15"/>
          <p:cNvSpPr txBox="1"/>
          <p:nvPr/>
        </p:nvSpPr>
        <p:spPr>
          <a:xfrm>
            <a:off x="5874500" y="12642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419" sz="1000">
                <a:solidFill>
                  <a:schemeClr val="dk1"/>
                </a:solidFill>
                <a:latin typeface="Times New Roman"/>
                <a:ea typeface="Times New Roman"/>
                <a:cs typeface="Times New Roman"/>
                <a:sym typeface="Times New Roman"/>
              </a:rPr>
              <a:t>Figura 2</a:t>
            </a:r>
            <a:endParaRPr i="1" sz="10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44595"/>
              <a:buFont typeface="Arial"/>
              <a:buNone/>
            </a:pPr>
            <a:r>
              <a:rPr lang="es-419" sz="2220">
                <a:latin typeface="Times New Roman"/>
                <a:ea typeface="Times New Roman"/>
                <a:cs typeface="Times New Roman"/>
                <a:sym typeface="Times New Roman"/>
              </a:rPr>
              <a:t>P</a:t>
            </a:r>
            <a:r>
              <a:rPr lang="es-419" sz="2220">
                <a:latin typeface="Times New Roman"/>
                <a:ea typeface="Times New Roman"/>
                <a:cs typeface="Times New Roman"/>
                <a:sym typeface="Times New Roman"/>
              </a:rPr>
              <a:t>aso a paso para crear un repositorio en git y subirlo a github</a:t>
            </a:r>
            <a:endParaRPr sz="222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solidFill>
                  <a:schemeClr val="dk1"/>
                </a:solidFill>
                <a:latin typeface="Times New Roman"/>
                <a:ea typeface="Times New Roman"/>
                <a:cs typeface="Times New Roman"/>
                <a:sym typeface="Times New Roman"/>
              </a:rPr>
              <a:t>Antes que nada debemos crear un nuevo repositorio en github, entrando desde el navegador</a:t>
            </a:r>
            <a:endParaRPr>
              <a:solidFill>
                <a:schemeClr val="dk1"/>
              </a:solidFill>
              <a:latin typeface="Times New Roman"/>
              <a:ea typeface="Times New Roman"/>
              <a:cs typeface="Times New Roman"/>
              <a:sym typeface="Times New Roman"/>
            </a:endParaRPr>
          </a:p>
        </p:txBody>
      </p:sp>
      <p:pic>
        <p:nvPicPr>
          <p:cNvPr id="80" name="Google Shape;80;p16"/>
          <p:cNvPicPr preferRelativeResize="0"/>
          <p:nvPr/>
        </p:nvPicPr>
        <p:blipFill>
          <a:blip r:embed="rId3">
            <a:alphaModFix/>
          </a:blip>
          <a:stretch>
            <a:fillRect/>
          </a:stretch>
        </p:blipFill>
        <p:spPr>
          <a:xfrm>
            <a:off x="2144775" y="1831700"/>
            <a:ext cx="4476450" cy="3127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s-419" sz="2220">
                <a:latin typeface="Times New Roman"/>
                <a:ea typeface="Times New Roman"/>
                <a:cs typeface="Times New Roman"/>
                <a:sym typeface="Times New Roman"/>
              </a:rPr>
              <a:t>P</a:t>
            </a:r>
            <a:r>
              <a:rPr lang="es-419" sz="2220">
                <a:latin typeface="Times New Roman"/>
                <a:ea typeface="Times New Roman"/>
                <a:cs typeface="Times New Roman"/>
                <a:sym typeface="Times New Roman"/>
              </a:rPr>
              <a:t>aso a paso para crear un repositorio en git y subirlo a github</a:t>
            </a:r>
            <a:endParaRPr sz="2220">
              <a:latin typeface="Times New Roman"/>
              <a:ea typeface="Times New Roman"/>
              <a:cs typeface="Times New Roman"/>
              <a:sym typeface="Times New Roman"/>
            </a:endParaRPr>
          </a:p>
        </p:txBody>
      </p:sp>
      <p:sp>
        <p:nvSpPr>
          <p:cNvPr id="86" name="Google Shape;86;p17"/>
          <p:cNvSpPr txBox="1"/>
          <p:nvPr>
            <p:ph idx="1" type="body"/>
          </p:nvPr>
        </p:nvSpPr>
        <p:spPr>
          <a:xfrm>
            <a:off x="311700" y="1152475"/>
            <a:ext cx="28260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Font typeface="Times New Roman"/>
              <a:buAutoNum type="arabicPeriod"/>
            </a:pPr>
            <a:r>
              <a:rPr lang="es-419" sz="1600">
                <a:solidFill>
                  <a:schemeClr val="dk1"/>
                </a:solidFill>
                <a:latin typeface="Times New Roman"/>
                <a:ea typeface="Times New Roman"/>
                <a:cs typeface="Times New Roman"/>
                <a:sym typeface="Times New Roman"/>
              </a:rPr>
              <a:t>crear una carpeta en el escritorio</a:t>
            </a:r>
            <a:endParaRPr sz="1600">
              <a:solidFill>
                <a:schemeClr val="dk1"/>
              </a:solidFill>
              <a:latin typeface="Times New Roman"/>
              <a:ea typeface="Times New Roman"/>
              <a:cs typeface="Times New Roman"/>
              <a:sym typeface="Times New Roman"/>
            </a:endParaRPr>
          </a:p>
        </p:txBody>
      </p:sp>
      <p:pic>
        <p:nvPicPr>
          <p:cNvPr id="87" name="Google Shape;87;p17"/>
          <p:cNvPicPr preferRelativeResize="0"/>
          <p:nvPr/>
        </p:nvPicPr>
        <p:blipFill>
          <a:blip r:embed="rId3">
            <a:alphaModFix/>
          </a:blip>
          <a:stretch>
            <a:fillRect/>
          </a:stretch>
        </p:blipFill>
        <p:spPr>
          <a:xfrm>
            <a:off x="879400" y="2016850"/>
            <a:ext cx="990600" cy="1219200"/>
          </a:xfrm>
          <a:prstGeom prst="rect">
            <a:avLst/>
          </a:prstGeom>
          <a:noFill/>
          <a:ln>
            <a:noFill/>
          </a:ln>
        </p:spPr>
      </p:pic>
      <p:sp>
        <p:nvSpPr>
          <p:cNvPr id="88" name="Google Shape;88;p17"/>
          <p:cNvSpPr txBox="1"/>
          <p:nvPr>
            <p:ph idx="1" type="body"/>
          </p:nvPr>
        </p:nvSpPr>
        <p:spPr>
          <a:xfrm>
            <a:off x="3248950" y="1152475"/>
            <a:ext cx="2639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600">
                <a:solidFill>
                  <a:schemeClr val="dk1"/>
                </a:solidFill>
                <a:latin typeface="Times New Roman"/>
                <a:ea typeface="Times New Roman"/>
                <a:cs typeface="Times New Roman"/>
                <a:sym typeface="Times New Roman"/>
              </a:rPr>
              <a:t>2. verificar que este instalado git bash</a:t>
            </a:r>
            <a:endParaRPr sz="1600">
              <a:solidFill>
                <a:schemeClr val="dk1"/>
              </a:solidFill>
              <a:latin typeface="Times New Roman"/>
              <a:ea typeface="Times New Roman"/>
              <a:cs typeface="Times New Roman"/>
              <a:sym typeface="Times New Roman"/>
            </a:endParaRPr>
          </a:p>
        </p:txBody>
      </p:sp>
      <p:sp>
        <p:nvSpPr>
          <p:cNvPr id="89" name="Google Shape;89;p17"/>
          <p:cNvSpPr txBox="1"/>
          <p:nvPr>
            <p:ph idx="1" type="body"/>
          </p:nvPr>
        </p:nvSpPr>
        <p:spPr>
          <a:xfrm>
            <a:off x="6006250" y="1152475"/>
            <a:ext cx="28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600">
                <a:solidFill>
                  <a:schemeClr val="dk1"/>
                </a:solidFill>
                <a:latin typeface="Times New Roman"/>
                <a:ea typeface="Times New Roman"/>
                <a:cs typeface="Times New Roman"/>
                <a:sym typeface="Times New Roman"/>
              </a:rPr>
              <a:t>3. abrir el git bash</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1200"/>
              </a:spcAft>
              <a:buNone/>
            </a:pPr>
            <a:r>
              <a:rPr lang="es-419" sz="1600">
                <a:solidFill>
                  <a:schemeClr val="dk1"/>
                </a:solidFill>
                <a:latin typeface="Times New Roman"/>
                <a:ea typeface="Times New Roman"/>
                <a:cs typeface="Times New Roman"/>
                <a:sym typeface="Times New Roman"/>
              </a:rPr>
              <a:t>aparecerá</a:t>
            </a:r>
            <a:r>
              <a:rPr lang="es-419" sz="1600">
                <a:solidFill>
                  <a:schemeClr val="dk1"/>
                </a:solidFill>
                <a:latin typeface="Times New Roman"/>
                <a:ea typeface="Times New Roman"/>
                <a:cs typeface="Times New Roman"/>
                <a:sym typeface="Times New Roman"/>
              </a:rPr>
              <a:t> la ruta donde esta la carpeta que creamos anteriormente</a:t>
            </a:r>
            <a:endParaRPr sz="1600">
              <a:solidFill>
                <a:schemeClr val="dk1"/>
              </a:solidFill>
              <a:latin typeface="Times New Roman"/>
              <a:ea typeface="Times New Roman"/>
              <a:cs typeface="Times New Roman"/>
              <a:sym typeface="Times New Roman"/>
            </a:endParaRPr>
          </a:p>
        </p:txBody>
      </p:sp>
      <p:pic>
        <p:nvPicPr>
          <p:cNvPr id="90" name="Google Shape;90;p17"/>
          <p:cNvPicPr preferRelativeResize="0"/>
          <p:nvPr/>
        </p:nvPicPr>
        <p:blipFill>
          <a:blip r:embed="rId4">
            <a:alphaModFix/>
          </a:blip>
          <a:stretch>
            <a:fillRect/>
          </a:stretch>
        </p:blipFill>
        <p:spPr>
          <a:xfrm>
            <a:off x="3364063" y="2016838"/>
            <a:ext cx="2181225" cy="2219325"/>
          </a:xfrm>
          <a:prstGeom prst="rect">
            <a:avLst/>
          </a:prstGeom>
          <a:noFill/>
          <a:ln>
            <a:noFill/>
          </a:ln>
        </p:spPr>
      </p:pic>
      <p:pic>
        <p:nvPicPr>
          <p:cNvPr id="91" name="Google Shape;91;p17"/>
          <p:cNvPicPr preferRelativeResize="0"/>
          <p:nvPr/>
        </p:nvPicPr>
        <p:blipFill rotWithShape="1">
          <a:blip r:embed="rId5">
            <a:alphaModFix/>
          </a:blip>
          <a:srcRect b="0" l="0" r="20899" t="0"/>
          <a:stretch/>
        </p:blipFill>
        <p:spPr>
          <a:xfrm>
            <a:off x="5733088" y="1740175"/>
            <a:ext cx="3372325" cy="4456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s-419" sz="2220">
                <a:latin typeface="Times New Roman"/>
                <a:ea typeface="Times New Roman"/>
                <a:cs typeface="Times New Roman"/>
                <a:sym typeface="Times New Roman"/>
              </a:rPr>
              <a:t>P</a:t>
            </a:r>
            <a:r>
              <a:rPr lang="es-419" sz="2220">
                <a:latin typeface="Times New Roman"/>
                <a:ea typeface="Times New Roman"/>
                <a:cs typeface="Times New Roman"/>
                <a:sym typeface="Times New Roman"/>
              </a:rPr>
              <a:t>aso a paso para crear un repositorio en git y subirlo a github</a:t>
            </a:r>
            <a:endParaRPr sz="2220">
              <a:latin typeface="Times New Roman"/>
              <a:ea typeface="Times New Roman"/>
              <a:cs typeface="Times New Roman"/>
              <a:sym typeface="Times New Roman"/>
            </a:endParaRPr>
          </a:p>
        </p:txBody>
      </p:sp>
      <p:sp>
        <p:nvSpPr>
          <p:cNvPr id="97" name="Google Shape;97;p18"/>
          <p:cNvSpPr txBox="1"/>
          <p:nvPr>
            <p:ph idx="1" type="body"/>
          </p:nvPr>
        </p:nvSpPr>
        <p:spPr>
          <a:xfrm>
            <a:off x="311700" y="1152475"/>
            <a:ext cx="2826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1"/>
                </a:solidFill>
                <a:latin typeface="Times New Roman"/>
                <a:ea typeface="Times New Roman"/>
                <a:cs typeface="Times New Roman"/>
                <a:sym typeface="Times New Roman"/>
              </a:rPr>
              <a:t>4. poner el siguiente comando:</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1300">
                <a:solidFill>
                  <a:schemeClr val="dk1"/>
                </a:solidFill>
                <a:latin typeface="Times New Roman"/>
                <a:ea typeface="Times New Roman"/>
                <a:cs typeface="Times New Roman"/>
                <a:sym typeface="Times New Roman"/>
              </a:rPr>
              <a:t>git init</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s-419" sz="1300">
                <a:solidFill>
                  <a:schemeClr val="dk1"/>
                </a:solidFill>
                <a:latin typeface="Times New Roman"/>
                <a:ea typeface="Times New Roman"/>
                <a:cs typeface="Times New Roman"/>
                <a:sym typeface="Times New Roman"/>
              </a:rPr>
              <a:t>este comando lo pondremos una </a:t>
            </a:r>
            <a:r>
              <a:rPr lang="es-419" sz="1300">
                <a:solidFill>
                  <a:schemeClr val="dk1"/>
                </a:solidFill>
                <a:latin typeface="Times New Roman"/>
                <a:ea typeface="Times New Roman"/>
                <a:cs typeface="Times New Roman"/>
                <a:sym typeface="Times New Roman"/>
              </a:rPr>
              <a:t>única</a:t>
            </a:r>
            <a:r>
              <a:rPr lang="es-419" sz="1300">
                <a:solidFill>
                  <a:schemeClr val="dk1"/>
                </a:solidFill>
                <a:latin typeface="Times New Roman"/>
                <a:ea typeface="Times New Roman"/>
                <a:cs typeface="Times New Roman"/>
                <a:sym typeface="Times New Roman"/>
              </a:rPr>
              <a:t> vez para inicializar nuestro repositorio, y nos </a:t>
            </a:r>
            <a:r>
              <a:rPr lang="es-419" sz="1300">
                <a:solidFill>
                  <a:schemeClr val="dk1"/>
                </a:solidFill>
                <a:latin typeface="Times New Roman"/>
                <a:ea typeface="Times New Roman"/>
                <a:cs typeface="Times New Roman"/>
                <a:sym typeface="Times New Roman"/>
              </a:rPr>
              <a:t>debería</a:t>
            </a:r>
            <a:r>
              <a:rPr lang="es-419" sz="1300">
                <a:solidFill>
                  <a:schemeClr val="dk1"/>
                </a:solidFill>
                <a:latin typeface="Times New Roman"/>
                <a:ea typeface="Times New Roman"/>
                <a:cs typeface="Times New Roman"/>
                <a:sym typeface="Times New Roman"/>
              </a:rPr>
              <a:t> dar el siguiente resultado:</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1300">
              <a:solidFill>
                <a:schemeClr val="dk1"/>
              </a:solidFill>
              <a:latin typeface="Times New Roman"/>
              <a:ea typeface="Times New Roman"/>
              <a:cs typeface="Times New Roman"/>
              <a:sym typeface="Times New Roman"/>
            </a:endParaRPr>
          </a:p>
        </p:txBody>
      </p:sp>
      <p:sp>
        <p:nvSpPr>
          <p:cNvPr id="98" name="Google Shape;98;p18"/>
          <p:cNvSpPr txBox="1"/>
          <p:nvPr>
            <p:ph idx="1" type="body"/>
          </p:nvPr>
        </p:nvSpPr>
        <p:spPr>
          <a:xfrm>
            <a:off x="3248950" y="1152475"/>
            <a:ext cx="26397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s-419" sz="1600">
                <a:solidFill>
                  <a:schemeClr val="dk1"/>
                </a:solidFill>
                <a:latin typeface="Times New Roman"/>
                <a:ea typeface="Times New Roman"/>
                <a:cs typeface="Times New Roman"/>
                <a:sym typeface="Times New Roman"/>
              </a:rPr>
              <a:t>5. verificamos en nuestra carpeta que se creo la carpeta .git</a:t>
            </a:r>
            <a:endParaRPr sz="1600">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1200"/>
              </a:spcAft>
              <a:buNone/>
            </a:pPr>
            <a:r>
              <a:rPr lang="es-419" sz="1600">
                <a:solidFill>
                  <a:schemeClr val="dk1"/>
                </a:solidFill>
                <a:latin typeface="Times New Roman"/>
                <a:ea typeface="Times New Roman"/>
                <a:cs typeface="Times New Roman"/>
                <a:sym typeface="Times New Roman"/>
              </a:rPr>
              <a:t>esa carpeta no la vamos a utilizar </a:t>
            </a:r>
            <a:r>
              <a:rPr lang="es-419" sz="1600">
                <a:solidFill>
                  <a:schemeClr val="dk1"/>
                </a:solidFill>
                <a:latin typeface="Times New Roman"/>
                <a:ea typeface="Times New Roman"/>
                <a:cs typeface="Times New Roman"/>
                <a:sym typeface="Times New Roman"/>
              </a:rPr>
              <a:t>únicamente</a:t>
            </a:r>
            <a:r>
              <a:rPr lang="es-419" sz="1600">
                <a:solidFill>
                  <a:schemeClr val="dk1"/>
                </a:solidFill>
                <a:latin typeface="Times New Roman"/>
                <a:ea typeface="Times New Roman"/>
                <a:cs typeface="Times New Roman"/>
                <a:sym typeface="Times New Roman"/>
              </a:rPr>
              <a:t> la dejamos </a:t>
            </a:r>
            <a:r>
              <a:rPr lang="es-419" sz="1600">
                <a:solidFill>
                  <a:schemeClr val="dk1"/>
                </a:solidFill>
                <a:latin typeface="Times New Roman"/>
                <a:ea typeface="Times New Roman"/>
                <a:cs typeface="Times New Roman"/>
                <a:sym typeface="Times New Roman"/>
              </a:rPr>
              <a:t>ahí</a:t>
            </a:r>
            <a:endParaRPr sz="1600">
              <a:solidFill>
                <a:schemeClr val="dk1"/>
              </a:solidFill>
              <a:latin typeface="Times New Roman"/>
              <a:ea typeface="Times New Roman"/>
              <a:cs typeface="Times New Roman"/>
              <a:sym typeface="Times New Roman"/>
            </a:endParaRPr>
          </a:p>
        </p:txBody>
      </p:sp>
      <p:sp>
        <p:nvSpPr>
          <p:cNvPr id="99" name="Google Shape;99;p18"/>
          <p:cNvSpPr txBox="1"/>
          <p:nvPr>
            <p:ph idx="1" type="body"/>
          </p:nvPr>
        </p:nvSpPr>
        <p:spPr>
          <a:xfrm>
            <a:off x="6006250" y="1152475"/>
            <a:ext cx="28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600">
                <a:solidFill>
                  <a:schemeClr val="dk1"/>
                </a:solidFill>
                <a:latin typeface="Times New Roman"/>
                <a:ea typeface="Times New Roman"/>
                <a:cs typeface="Times New Roman"/>
                <a:sym typeface="Times New Roman"/>
              </a:rPr>
              <a:t>6.  como siguiente paso vamos a crear un archivo de texto y le pondremos un </a:t>
            </a:r>
            <a:r>
              <a:rPr lang="es-419" sz="1600">
                <a:solidFill>
                  <a:schemeClr val="dk1"/>
                </a:solidFill>
                <a:latin typeface="Times New Roman"/>
                <a:ea typeface="Times New Roman"/>
                <a:cs typeface="Times New Roman"/>
                <a:sym typeface="Times New Roman"/>
              </a:rPr>
              <a:t>título</a:t>
            </a:r>
            <a:r>
              <a:rPr lang="es-419" sz="1600">
                <a:solidFill>
                  <a:schemeClr val="dk1"/>
                </a:solidFill>
                <a:latin typeface="Times New Roman"/>
                <a:ea typeface="Times New Roman"/>
                <a:cs typeface="Times New Roman"/>
                <a:sym typeface="Times New Roman"/>
              </a:rPr>
              <a:t> de cualquier cosa</a:t>
            </a:r>
            <a:endParaRPr sz="1600">
              <a:solidFill>
                <a:schemeClr val="dk1"/>
              </a:solidFill>
              <a:latin typeface="Times New Roman"/>
              <a:ea typeface="Times New Roman"/>
              <a:cs typeface="Times New Roman"/>
              <a:sym typeface="Times New Roman"/>
            </a:endParaRPr>
          </a:p>
        </p:txBody>
      </p:sp>
      <p:pic>
        <p:nvPicPr>
          <p:cNvPr id="100" name="Google Shape;100;p18"/>
          <p:cNvPicPr preferRelativeResize="0"/>
          <p:nvPr/>
        </p:nvPicPr>
        <p:blipFill>
          <a:blip r:embed="rId3">
            <a:alphaModFix/>
          </a:blip>
          <a:stretch>
            <a:fillRect/>
          </a:stretch>
        </p:blipFill>
        <p:spPr>
          <a:xfrm>
            <a:off x="185038" y="2204300"/>
            <a:ext cx="3079325" cy="269825"/>
          </a:xfrm>
          <a:prstGeom prst="rect">
            <a:avLst/>
          </a:prstGeom>
          <a:noFill/>
          <a:ln>
            <a:noFill/>
          </a:ln>
        </p:spPr>
      </p:pic>
      <p:pic>
        <p:nvPicPr>
          <p:cNvPr id="101" name="Google Shape;101;p18"/>
          <p:cNvPicPr preferRelativeResize="0"/>
          <p:nvPr/>
        </p:nvPicPr>
        <p:blipFill>
          <a:blip r:embed="rId4">
            <a:alphaModFix/>
          </a:blip>
          <a:stretch>
            <a:fillRect/>
          </a:stretch>
        </p:blipFill>
        <p:spPr>
          <a:xfrm>
            <a:off x="169625" y="3435400"/>
            <a:ext cx="3079324" cy="305950"/>
          </a:xfrm>
          <a:prstGeom prst="rect">
            <a:avLst/>
          </a:prstGeom>
          <a:noFill/>
          <a:ln>
            <a:noFill/>
          </a:ln>
        </p:spPr>
      </p:pic>
      <p:pic>
        <p:nvPicPr>
          <p:cNvPr id="102" name="Google Shape;102;p18"/>
          <p:cNvPicPr preferRelativeResize="0"/>
          <p:nvPr/>
        </p:nvPicPr>
        <p:blipFill rotWithShape="1">
          <a:blip r:embed="rId5">
            <a:alphaModFix/>
          </a:blip>
          <a:srcRect b="0" l="0" r="74520" t="0"/>
          <a:stretch/>
        </p:blipFill>
        <p:spPr>
          <a:xfrm>
            <a:off x="3421800" y="2436859"/>
            <a:ext cx="2401813" cy="465107"/>
          </a:xfrm>
          <a:prstGeom prst="rect">
            <a:avLst/>
          </a:prstGeom>
          <a:noFill/>
          <a:ln>
            <a:noFill/>
          </a:ln>
        </p:spPr>
      </p:pic>
      <p:pic>
        <p:nvPicPr>
          <p:cNvPr id="103" name="Google Shape;103;p18"/>
          <p:cNvPicPr preferRelativeResize="0"/>
          <p:nvPr/>
        </p:nvPicPr>
        <p:blipFill>
          <a:blip r:embed="rId6">
            <a:alphaModFix/>
          </a:blip>
          <a:stretch>
            <a:fillRect/>
          </a:stretch>
        </p:blipFill>
        <p:spPr>
          <a:xfrm>
            <a:off x="6107725" y="2835327"/>
            <a:ext cx="2724575" cy="703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s-419" sz="2220">
                <a:latin typeface="Times New Roman"/>
                <a:ea typeface="Times New Roman"/>
                <a:cs typeface="Times New Roman"/>
                <a:sym typeface="Times New Roman"/>
              </a:rPr>
              <a:t>P</a:t>
            </a:r>
            <a:r>
              <a:rPr lang="es-419" sz="2220">
                <a:latin typeface="Times New Roman"/>
                <a:ea typeface="Times New Roman"/>
                <a:cs typeface="Times New Roman"/>
                <a:sym typeface="Times New Roman"/>
              </a:rPr>
              <a:t>aso a paso para crear un repositorio en git y subirlo a github</a:t>
            </a:r>
            <a:endParaRPr sz="2220">
              <a:latin typeface="Times New Roman"/>
              <a:ea typeface="Times New Roman"/>
              <a:cs typeface="Times New Roman"/>
              <a:sym typeface="Times New Roman"/>
            </a:endParaRPr>
          </a:p>
        </p:txBody>
      </p:sp>
      <p:sp>
        <p:nvSpPr>
          <p:cNvPr id="109" name="Google Shape;109;p19"/>
          <p:cNvSpPr txBox="1"/>
          <p:nvPr>
            <p:ph idx="1" type="body"/>
          </p:nvPr>
        </p:nvSpPr>
        <p:spPr>
          <a:xfrm>
            <a:off x="311700" y="1152475"/>
            <a:ext cx="28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400">
                <a:latin typeface="Times New Roman"/>
                <a:ea typeface="Times New Roman"/>
                <a:cs typeface="Times New Roman"/>
                <a:sym typeface="Times New Roman"/>
              </a:rPr>
              <a:t>7. verificamos el archivo creado utilizando el siguiente comando:</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s-419" sz="1400">
                <a:solidFill>
                  <a:schemeClr val="dk1"/>
                </a:solidFill>
                <a:latin typeface="Times New Roman"/>
                <a:ea typeface="Times New Roman"/>
                <a:cs typeface="Times New Roman"/>
                <a:sym typeface="Times New Roman"/>
              </a:rPr>
              <a:t>git status</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s-419" sz="1400">
                <a:solidFill>
                  <a:schemeClr val="dk1"/>
                </a:solidFill>
                <a:latin typeface="Times New Roman"/>
                <a:ea typeface="Times New Roman"/>
                <a:cs typeface="Times New Roman"/>
                <a:sym typeface="Times New Roman"/>
              </a:rPr>
              <a:t>y nos </a:t>
            </a:r>
            <a:r>
              <a:rPr lang="es-419" sz="1400">
                <a:solidFill>
                  <a:schemeClr val="dk1"/>
                </a:solidFill>
                <a:latin typeface="Times New Roman"/>
                <a:ea typeface="Times New Roman"/>
                <a:cs typeface="Times New Roman"/>
                <a:sym typeface="Times New Roman"/>
              </a:rPr>
              <a:t>debería</a:t>
            </a:r>
            <a:r>
              <a:rPr lang="es-419" sz="1400">
                <a:solidFill>
                  <a:schemeClr val="dk1"/>
                </a:solidFill>
                <a:latin typeface="Times New Roman"/>
                <a:ea typeface="Times New Roman"/>
                <a:cs typeface="Times New Roman"/>
                <a:sym typeface="Times New Roman"/>
              </a:rPr>
              <a:t> aparecer el archivo que creamos </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sp>
        <p:nvSpPr>
          <p:cNvPr id="110" name="Google Shape;110;p19"/>
          <p:cNvSpPr txBox="1"/>
          <p:nvPr>
            <p:ph idx="1" type="body"/>
          </p:nvPr>
        </p:nvSpPr>
        <p:spPr>
          <a:xfrm>
            <a:off x="3248950" y="1152475"/>
            <a:ext cx="2639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400">
                <a:solidFill>
                  <a:schemeClr val="dk1"/>
                </a:solidFill>
                <a:latin typeface="Times New Roman"/>
                <a:ea typeface="Times New Roman"/>
                <a:cs typeface="Times New Roman"/>
                <a:sym typeface="Times New Roman"/>
              </a:rPr>
              <a:t>8. nos damos cuenta que el archivo nos aparece en rojo, esos quiere decir que aun no lo hemos subido, para subirlo utilizamos el siguiente comando:</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s-419" sz="1100">
                <a:solidFill>
                  <a:schemeClr val="dk1"/>
                </a:solidFill>
              </a:rPr>
              <a:t>git add(nombre_archivo con formato)</a:t>
            </a:r>
            <a:endParaRPr sz="1300"/>
          </a:p>
        </p:txBody>
      </p:sp>
      <p:sp>
        <p:nvSpPr>
          <p:cNvPr id="111" name="Google Shape;111;p19"/>
          <p:cNvSpPr txBox="1"/>
          <p:nvPr>
            <p:ph idx="1" type="body"/>
          </p:nvPr>
        </p:nvSpPr>
        <p:spPr>
          <a:xfrm>
            <a:off x="6006250" y="1152475"/>
            <a:ext cx="28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600">
                <a:solidFill>
                  <a:schemeClr val="dk1"/>
                </a:solidFill>
                <a:latin typeface="Times New Roman"/>
                <a:ea typeface="Times New Roman"/>
                <a:cs typeface="Times New Roman"/>
                <a:sym typeface="Times New Roman"/>
              </a:rPr>
              <a:t>9. verificamos nuevamente con:</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1100">
                <a:solidFill>
                  <a:schemeClr val="dk1"/>
                </a:solidFill>
              </a:rPr>
              <a:t>git status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es-419" sz="1100">
                <a:solidFill>
                  <a:schemeClr val="dk1"/>
                </a:solidFill>
              </a:rPr>
              <a:t>y nos debería aparecer en verde lo que significa que ya se subió</a:t>
            </a:r>
            <a:endParaRPr sz="1100">
              <a:solidFill>
                <a:schemeClr val="dk1"/>
              </a:solidFill>
            </a:endParaRPr>
          </a:p>
          <a:p>
            <a:pPr indent="0" lvl="0" marL="0" rtl="0" algn="l">
              <a:spcBef>
                <a:spcPts val="0"/>
              </a:spcBef>
              <a:spcAft>
                <a:spcPts val="1200"/>
              </a:spcAft>
              <a:buNone/>
            </a:pPr>
            <a:r>
              <a:t/>
            </a:r>
            <a:endParaRPr/>
          </a:p>
        </p:txBody>
      </p:sp>
      <p:pic>
        <p:nvPicPr>
          <p:cNvPr id="112" name="Google Shape;112;p19"/>
          <p:cNvPicPr preferRelativeResize="0"/>
          <p:nvPr/>
        </p:nvPicPr>
        <p:blipFill>
          <a:blip r:embed="rId3">
            <a:alphaModFix/>
          </a:blip>
          <a:stretch>
            <a:fillRect/>
          </a:stretch>
        </p:blipFill>
        <p:spPr>
          <a:xfrm>
            <a:off x="196000" y="2305050"/>
            <a:ext cx="3057425" cy="266700"/>
          </a:xfrm>
          <a:prstGeom prst="rect">
            <a:avLst/>
          </a:prstGeom>
          <a:noFill/>
          <a:ln>
            <a:noFill/>
          </a:ln>
        </p:spPr>
      </p:pic>
      <p:pic>
        <p:nvPicPr>
          <p:cNvPr id="113" name="Google Shape;113;p19"/>
          <p:cNvPicPr preferRelativeResize="0"/>
          <p:nvPr/>
        </p:nvPicPr>
        <p:blipFill>
          <a:blip r:embed="rId4">
            <a:alphaModFix/>
          </a:blip>
          <a:stretch>
            <a:fillRect/>
          </a:stretch>
        </p:blipFill>
        <p:spPr>
          <a:xfrm>
            <a:off x="0" y="3342975"/>
            <a:ext cx="3248949" cy="1069225"/>
          </a:xfrm>
          <a:prstGeom prst="rect">
            <a:avLst/>
          </a:prstGeom>
          <a:noFill/>
          <a:ln>
            <a:noFill/>
          </a:ln>
        </p:spPr>
      </p:pic>
      <p:pic>
        <p:nvPicPr>
          <p:cNvPr id="114" name="Google Shape;114;p19"/>
          <p:cNvPicPr preferRelativeResize="0"/>
          <p:nvPr/>
        </p:nvPicPr>
        <p:blipFill>
          <a:blip r:embed="rId5">
            <a:alphaModFix/>
          </a:blip>
          <a:stretch>
            <a:fillRect/>
          </a:stretch>
        </p:blipFill>
        <p:spPr>
          <a:xfrm>
            <a:off x="3253400" y="2838450"/>
            <a:ext cx="2752850" cy="269825"/>
          </a:xfrm>
          <a:prstGeom prst="rect">
            <a:avLst/>
          </a:prstGeom>
          <a:noFill/>
          <a:ln>
            <a:noFill/>
          </a:ln>
        </p:spPr>
      </p:pic>
      <p:pic>
        <p:nvPicPr>
          <p:cNvPr id="115" name="Google Shape;115;p19"/>
          <p:cNvPicPr preferRelativeResize="0"/>
          <p:nvPr/>
        </p:nvPicPr>
        <p:blipFill>
          <a:blip r:embed="rId3">
            <a:alphaModFix/>
          </a:blip>
          <a:stretch>
            <a:fillRect/>
          </a:stretch>
        </p:blipFill>
        <p:spPr>
          <a:xfrm>
            <a:off x="6006262" y="2305050"/>
            <a:ext cx="3057425" cy="266700"/>
          </a:xfrm>
          <a:prstGeom prst="rect">
            <a:avLst/>
          </a:prstGeom>
          <a:noFill/>
          <a:ln>
            <a:noFill/>
          </a:ln>
        </p:spPr>
      </p:pic>
      <p:pic>
        <p:nvPicPr>
          <p:cNvPr id="116" name="Google Shape;116;p19"/>
          <p:cNvPicPr preferRelativeResize="0"/>
          <p:nvPr/>
        </p:nvPicPr>
        <p:blipFill>
          <a:blip r:embed="rId6">
            <a:alphaModFix/>
          </a:blip>
          <a:stretch>
            <a:fillRect/>
          </a:stretch>
        </p:blipFill>
        <p:spPr>
          <a:xfrm>
            <a:off x="6006250" y="3052000"/>
            <a:ext cx="3057425" cy="1012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s-419" sz="2220">
                <a:latin typeface="Times New Roman"/>
                <a:ea typeface="Times New Roman"/>
                <a:cs typeface="Times New Roman"/>
                <a:sym typeface="Times New Roman"/>
              </a:rPr>
              <a:t>P</a:t>
            </a:r>
            <a:r>
              <a:rPr lang="es-419" sz="2220">
                <a:latin typeface="Times New Roman"/>
                <a:ea typeface="Times New Roman"/>
                <a:cs typeface="Times New Roman"/>
                <a:sym typeface="Times New Roman"/>
              </a:rPr>
              <a:t>aso a paso para crear un repositorio en git y subirlo a github</a:t>
            </a:r>
            <a:endParaRPr sz="2220">
              <a:latin typeface="Times New Roman"/>
              <a:ea typeface="Times New Roman"/>
              <a:cs typeface="Times New Roman"/>
              <a:sym typeface="Times New Roman"/>
            </a:endParaRPr>
          </a:p>
        </p:txBody>
      </p:sp>
      <p:sp>
        <p:nvSpPr>
          <p:cNvPr id="122" name="Google Shape;122;p20"/>
          <p:cNvSpPr txBox="1"/>
          <p:nvPr>
            <p:ph idx="1" type="body"/>
          </p:nvPr>
        </p:nvSpPr>
        <p:spPr>
          <a:xfrm>
            <a:off x="311700" y="1152475"/>
            <a:ext cx="28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600">
                <a:solidFill>
                  <a:schemeClr val="dk1"/>
                </a:solidFill>
                <a:latin typeface="Times New Roman"/>
                <a:ea typeface="Times New Roman"/>
                <a:cs typeface="Times New Roman"/>
                <a:sym typeface="Times New Roman"/>
              </a:rPr>
              <a:t>10. agregamos un mensaje a el archivo, utilizando el siguiente comando:</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1100">
                <a:solidFill>
                  <a:schemeClr val="dk1"/>
                </a:solidFill>
              </a:rPr>
              <a:t>git commit -m “mensaje”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s-419" sz="1100">
                <a:solidFill>
                  <a:schemeClr val="dk1"/>
                </a:solidFill>
              </a:rPr>
              <a:t>y nos </a:t>
            </a:r>
            <a:r>
              <a:rPr lang="es-419" sz="1100">
                <a:solidFill>
                  <a:schemeClr val="dk1"/>
                </a:solidFill>
              </a:rPr>
              <a:t>deberá</a:t>
            </a:r>
            <a:r>
              <a:rPr lang="es-419" sz="1100">
                <a:solidFill>
                  <a:schemeClr val="dk1"/>
                </a:solidFill>
              </a:rPr>
              <a:t> aparecer este resultado:</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p:txBody>
      </p:sp>
      <p:sp>
        <p:nvSpPr>
          <p:cNvPr id="123" name="Google Shape;123;p20"/>
          <p:cNvSpPr txBox="1"/>
          <p:nvPr>
            <p:ph idx="1" type="body"/>
          </p:nvPr>
        </p:nvSpPr>
        <p:spPr>
          <a:xfrm>
            <a:off x="3248950" y="1152475"/>
            <a:ext cx="2639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600">
                <a:solidFill>
                  <a:schemeClr val="dk1"/>
                </a:solidFill>
                <a:latin typeface="Times New Roman"/>
                <a:ea typeface="Times New Roman"/>
                <a:cs typeface="Times New Roman"/>
                <a:sym typeface="Times New Roman"/>
              </a:rPr>
              <a:t>11. nos vamos a nuestro repositorio de github y copiamos la </a:t>
            </a:r>
            <a:r>
              <a:rPr lang="es-419" sz="1600">
                <a:solidFill>
                  <a:schemeClr val="dk1"/>
                </a:solidFill>
                <a:latin typeface="Times New Roman"/>
                <a:ea typeface="Times New Roman"/>
                <a:cs typeface="Times New Roman"/>
                <a:sym typeface="Times New Roman"/>
              </a:rPr>
              <a:t>dirección</a:t>
            </a:r>
            <a:r>
              <a:rPr lang="es-419" sz="1600">
                <a:solidFill>
                  <a:schemeClr val="dk1"/>
                </a:solidFill>
                <a:latin typeface="Times New Roman"/>
                <a:ea typeface="Times New Roman"/>
                <a:cs typeface="Times New Roman"/>
                <a:sym typeface="Times New Roman"/>
              </a:rPr>
              <a:t> de la carpeta</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1600">
                <a:solidFill>
                  <a:schemeClr val="dk1"/>
                </a:solidFill>
                <a:latin typeface="Times New Roman"/>
                <a:ea typeface="Times New Roman"/>
                <a:cs typeface="Times New Roman"/>
                <a:sym typeface="Times New Roman"/>
              </a:rPr>
              <a:t>en este caso es la siguiente:</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600">
              <a:solidFill>
                <a:schemeClr val="dk1"/>
              </a:solidFill>
              <a:latin typeface="Times New Roman"/>
              <a:ea typeface="Times New Roman"/>
              <a:cs typeface="Times New Roman"/>
              <a:sym typeface="Times New Roman"/>
            </a:endParaRPr>
          </a:p>
        </p:txBody>
      </p:sp>
      <p:sp>
        <p:nvSpPr>
          <p:cNvPr id="124" name="Google Shape;124;p20"/>
          <p:cNvSpPr txBox="1"/>
          <p:nvPr>
            <p:ph idx="1" type="body"/>
          </p:nvPr>
        </p:nvSpPr>
        <p:spPr>
          <a:xfrm>
            <a:off x="6006250" y="1152475"/>
            <a:ext cx="28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400">
                <a:solidFill>
                  <a:schemeClr val="dk1"/>
                </a:solidFill>
                <a:latin typeface="Times New Roman"/>
                <a:ea typeface="Times New Roman"/>
                <a:cs typeface="Times New Roman"/>
                <a:sym typeface="Times New Roman"/>
              </a:rPr>
              <a:t>12. luego de eso pondremos el siguiente comando:</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1400">
                <a:solidFill>
                  <a:schemeClr val="dk1"/>
                </a:solidFill>
                <a:highlight>
                  <a:srgbClr val="F6F8FA"/>
                </a:highlight>
                <a:latin typeface="Times New Roman"/>
                <a:ea typeface="Times New Roman"/>
                <a:cs typeface="Times New Roman"/>
                <a:sym typeface="Times New Roman"/>
              </a:rPr>
              <a:t>git push -u origin main</a:t>
            </a:r>
            <a:endParaRPr sz="1400">
              <a:solidFill>
                <a:schemeClr val="dk1"/>
              </a:solidFill>
              <a:highlight>
                <a:srgbClr val="F6F8FA"/>
              </a:highlight>
              <a:latin typeface="Times New Roman"/>
              <a:ea typeface="Times New Roman"/>
              <a:cs typeface="Times New Roman"/>
              <a:sym typeface="Times New Roman"/>
            </a:endParaRPr>
          </a:p>
          <a:p>
            <a:pPr indent="0" lvl="0" marL="0" rtl="0" algn="l">
              <a:spcBef>
                <a:spcPts val="1200"/>
              </a:spcBef>
              <a:spcAft>
                <a:spcPts val="1200"/>
              </a:spcAft>
              <a:buClr>
                <a:schemeClr val="dk1"/>
              </a:buClr>
              <a:buSzPts val="1100"/>
              <a:buFont typeface="Arial"/>
              <a:buNone/>
            </a:pPr>
            <a:r>
              <a:rPr lang="es-419" sz="1400">
                <a:solidFill>
                  <a:schemeClr val="dk1"/>
                </a:solidFill>
                <a:highlight>
                  <a:srgbClr val="F6F8FA"/>
                </a:highlight>
                <a:latin typeface="Times New Roman"/>
                <a:ea typeface="Times New Roman"/>
                <a:cs typeface="Times New Roman"/>
                <a:sym typeface="Times New Roman"/>
              </a:rPr>
              <a:t>el main puede cambiar por un master el cual podremos saber cual utilizar ya que nos aparecera despues de la ruta de la carpeta</a:t>
            </a:r>
            <a:endParaRPr sz="1400">
              <a:solidFill>
                <a:schemeClr val="dk1"/>
              </a:solidFill>
              <a:highlight>
                <a:srgbClr val="F6F8FA"/>
              </a:highlight>
              <a:latin typeface="Times New Roman"/>
              <a:ea typeface="Times New Roman"/>
              <a:cs typeface="Times New Roman"/>
              <a:sym typeface="Times New Roman"/>
            </a:endParaRPr>
          </a:p>
        </p:txBody>
      </p:sp>
      <p:pic>
        <p:nvPicPr>
          <p:cNvPr id="125" name="Google Shape;125;p20"/>
          <p:cNvPicPr preferRelativeResize="0"/>
          <p:nvPr/>
        </p:nvPicPr>
        <p:blipFill>
          <a:blip r:embed="rId3">
            <a:alphaModFix/>
          </a:blip>
          <a:stretch>
            <a:fillRect/>
          </a:stretch>
        </p:blipFill>
        <p:spPr>
          <a:xfrm>
            <a:off x="150475" y="2812975"/>
            <a:ext cx="3098476" cy="269825"/>
          </a:xfrm>
          <a:prstGeom prst="rect">
            <a:avLst/>
          </a:prstGeom>
          <a:noFill/>
          <a:ln>
            <a:noFill/>
          </a:ln>
        </p:spPr>
      </p:pic>
      <p:pic>
        <p:nvPicPr>
          <p:cNvPr id="126" name="Google Shape;126;p20"/>
          <p:cNvPicPr preferRelativeResize="0"/>
          <p:nvPr/>
        </p:nvPicPr>
        <p:blipFill>
          <a:blip r:embed="rId4">
            <a:alphaModFix/>
          </a:blip>
          <a:stretch>
            <a:fillRect/>
          </a:stretch>
        </p:blipFill>
        <p:spPr>
          <a:xfrm>
            <a:off x="150475" y="3559234"/>
            <a:ext cx="3098476" cy="490665"/>
          </a:xfrm>
          <a:prstGeom prst="rect">
            <a:avLst/>
          </a:prstGeom>
          <a:noFill/>
          <a:ln>
            <a:noFill/>
          </a:ln>
        </p:spPr>
      </p:pic>
      <p:pic>
        <p:nvPicPr>
          <p:cNvPr id="127" name="Google Shape;127;p20"/>
          <p:cNvPicPr preferRelativeResize="0"/>
          <p:nvPr/>
        </p:nvPicPr>
        <p:blipFill>
          <a:blip r:embed="rId5">
            <a:alphaModFix/>
          </a:blip>
          <a:stretch>
            <a:fillRect/>
          </a:stretch>
        </p:blipFill>
        <p:spPr>
          <a:xfrm>
            <a:off x="3312375" y="2571750"/>
            <a:ext cx="2693875" cy="169129"/>
          </a:xfrm>
          <a:prstGeom prst="rect">
            <a:avLst/>
          </a:prstGeom>
          <a:noFill/>
          <a:ln>
            <a:noFill/>
          </a:ln>
        </p:spPr>
      </p:pic>
      <p:pic>
        <p:nvPicPr>
          <p:cNvPr id="128" name="Google Shape;128;p20"/>
          <p:cNvPicPr preferRelativeResize="0"/>
          <p:nvPr/>
        </p:nvPicPr>
        <p:blipFill>
          <a:blip r:embed="rId6">
            <a:alphaModFix/>
          </a:blip>
          <a:stretch>
            <a:fillRect/>
          </a:stretch>
        </p:blipFill>
        <p:spPr>
          <a:xfrm>
            <a:off x="3312375" y="3780075"/>
            <a:ext cx="2693875" cy="269825"/>
          </a:xfrm>
          <a:prstGeom prst="rect">
            <a:avLst/>
          </a:prstGeom>
          <a:noFill/>
          <a:ln>
            <a:noFill/>
          </a:ln>
        </p:spPr>
      </p:pic>
      <p:pic>
        <p:nvPicPr>
          <p:cNvPr id="129" name="Google Shape;129;p20"/>
          <p:cNvPicPr preferRelativeResize="0"/>
          <p:nvPr/>
        </p:nvPicPr>
        <p:blipFill>
          <a:blip r:embed="rId7">
            <a:alphaModFix/>
          </a:blip>
          <a:stretch>
            <a:fillRect/>
          </a:stretch>
        </p:blipFill>
        <p:spPr>
          <a:xfrm>
            <a:off x="6006250" y="3559225"/>
            <a:ext cx="3042750" cy="269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s-419" sz="2220">
                <a:latin typeface="Times New Roman"/>
                <a:ea typeface="Times New Roman"/>
                <a:cs typeface="Times New Roman"/>
                <a:sym typeface="Times New Roman"/>
              </a:rPr>
              <a:t>P</a:t>
            </a:r>
            <a:r>
              <a:rPr lang="es-419" sz="2220">
                <a:latin typeface="Times New Roman"/>
                <a:ea typeface="Times New Roman"/>
                <a:cs typeface="Times New Roman"/>
                <a:sym typeface="Times New Roman"/>
              </a:rPr>
              <a:t>aso a paso para crear un repositorio en git y subirlo a github</a:t>
            </a:r>
            <a:endParaRPr sz="2220">
              <a:latin typeface="Times New Roman"/>
              <a:ea typeface="Times New Roman"/>
              <a:cs typeface="Times New Roman"/>
              <a:sym typeface="Times New Roman"/>
            </a:endParaRPr>
          </a:p>
        </p:txBody>
      </p:sp>
      <p:sp>
        <p:nvSpPr>
          <p:cNvPr id="135" name="Google Shape;135;p21"/>
          <p:cNvSpPr txBox="1"/>
          <p:nvPr>
            <p:ph idx="1" type="body"/>
          </p:nvPr>
        </p:nvSpPr>
        <p:spPr>
          <a:xfrm>
            <a:off x="311700" y="1152475"/>
            <a:ext cx="28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500">
                <a:solidFill>
                  <a:schemeClr val="dk1"/>
                </a:solidFill>
                <a:latin typeface="Times New Roman"/>
                <a:ea typeface="Times New Roman"/>
                <a:cs typeface="Times New Roman"/>
                <a:sym typeface="Times New Roman"/>
              </a:rPr>
              <a:t>13. luego </a:t>
            </a:r>
            <a:r>
              <a:rPr lang="es-419" sz="1500">
                <a:solidFill>
                  <a:schemeClr val="dk1"/>
                </a:solidFill>
                <a:latin typeface="Times New Roman"/>
                <a:ea typeface="Times New Roman"/>
                <a:cs typeface="Times New Roman"/>
                <a:sym typeface="Times New Roman"/>
              </a:rPr>
              <a:t>de eso nos aparecera una ventanita en la cual debemos poner nuestra cuenta con la cual nos registramos en github</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s-419" sz="1500">
                <a:solidFill>
                  <a:schemeClr val="dk1"/>
                </a:solidFill>
                <a:latin typeface="Times New Roman"/>
                <a:ea typeface="Times New Roman"/>
                <a:cs typeface="Times New Roman"/>
                <a:sym typeface="Times New Roman"/>
              </a:rPr>
              <a:t>y ya habremos conectado git con github</a:t>
            </a:r>
            <a:endParaRPr sz="1500">
              <a:solidFill>
                <a:schemeClr val="dk1"/>
              </a:solidFill>
              <a:latin typeface="Times New Roman"/>
              <a:ea typeface="Times New Roman"/>
              <a:cs typeface="Times New Roman"/>
              <a:sym typeface="Times New Roman"/>
            </a:endParaRPr>
          </a:p>
        </p:txBody>
      </p:sp>
      <p:sp>
        <p:nvSpPr>
          <p:cNvPr id="136" name="Google Shape;136;p21"/>
          <p:cNvSpPr txBox="1"/>
          <p:nvPr>
            <p:ph idx="1" type="body"/>
          </p:nvPr>
        </p:nvSpPr>
        <p:spPr>
          <a:xfrm>
            <a:off x="3248950" y="1152475"/>
            <a:ext cx="2639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solidFill>
                  <a:schemeClr val="dk1"/>
                </a:solidFill>
                <a:latin typeface="Times New Roman"/>
                <a:ea typeface="Times New Roman"/>
                <a:cs typeface="Times New Roman"/>
                <a:sym typeface="Times New Roman"/>
              </a:rPr>
              <a:t>14. iremos a github y actualizaremos la pagina, y alli nos </a:t>
            </a:r>
            <a:r>
              <a:rPr lang="es-419">
                <a:solidFill>
                  <a:schemeClr val="dk1"/>
                </a:solidFill>
                <a:latin typeface="Times New Roman"/>
                <a:ea typeface="Times New Roman"/>
                <a:cs typeface="Times New Roman"/>
                <a:sym typeface="Times New Roman"/>
              </a:rPr>
              <a:t>debería</a:t>
            </a:r>
            <a:r>
              <a:rPr lang="es-419">
                <a:solidFill>
                  <a:schemeClr val="dk1"/>
                </a:solidFill>
                <a:latin typeface="Times New Roman"/>
                <a:ea typeface="Times New Roman"/>
                <a:cs typeface="Times New Roman"/>
                <a:sym typeface="Times New Roman"/>
              </a:rPr>
              <a:t> aparecer nuestro commit</a:t>
            </a:r>
            <a:endParaRPr>
              <a:solidFill>
                <a:schemeClr val="dk1"/>
              </a:solidFill>
              <a:latin typeface="Times New Roman"/>
              <a:ea typeface="Times New Roman"/>
              <a:cs typeface="Times New Roman"/>
              <a:sym typeface="Times New Roman"/>
            </a:endParaRPr>
          </a:p>
        </p:txBody>
      </p:sp>
      <p:sp>
        <p:nvSpPr>
          <p:cNvPr id="137" name="Google Shape;137;p21"/>
          <p:cNvSpPr txBox="1"/>
          <p:nvPr>
            <p:ph idx="1" type="body"/>
          </p:nvPr>
        </p:nvSpPr>
        <p:spPr>
          <a:xfrm>
            <a:off x="6006250" y="1152475"/>
            <a:ext cx="28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600">
                <a:solidFill>
                  <a:schemeClr val="dk1"/>
                </a:solidFill>
                <a:latin typeface="Times New Roman"/>
                <a:ea typeface="Times New Roman"/>
                <a:cs typeface="Times New Roman"/>
                <a:sym typeface="Times New Roman"/>
              </a:rPr>
              <a:t>15. luego volvemos a subir un archivo o podemos actualizar e que ya tenemos</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s-419" sz="1600">
                <a:solidFill>
                  <a:schemeClr val="dk1"/>
                </a:solidFill>
                <a:latin typeface="Times New Roman"/>
                <a:ea typeface="Times New Roman"/>
                <a:cs typeface="Times New Roman"/>
                <a:sym typeface="Times New Roman"/>
              </a:rPr>
              <a:t>en el archivo de texto pondremos un </a:t>
            </a:r>
            <a:r>
              <a:rPr lang="es-419" sz="1600">
                <a:solidFill>
                  <a:schemeClr val="dk1"/>
                </a:solidFill>
                <a:latin typeface="Times New Roman"/>
                <a:ea typeface="Times New Roman"/>
                <a:cs typeface="Times New Roman"/>
                <a:sym typeface="Times New Roman"/>
              </a:rPr>
              <a:t>párrafo</a:t>
            </a:r>
            <a:endParaRPr sz="1600">
              <a:solidFill>
                <a:schemeClr val="dk1"/>
              </a:solidFill>
              <a:latin typeface="Times New Roman"/>
              <a:ea typeface="Times New Roman"/>
              <a:cs typeface="Times New Roman"/>
              <a:sym typeface="Times New Roman"/>
            </a:endParaRPr>
          </a:p>
        </p:txBody>
      </p:sp>
      <p:pic>
        <p:nvPicPr>
          <p:cNvPr id="138" name="Google Shape;138;p21"/>
          <p:cNvPicPr preferRelativeResize="0"/>
          <p:nvPr/>
        </p:nvPicPr>
        <p:blipFill>
          <a:blip r:embed="rId3">
            <a:alphaModFix/>
          </a:blip>
          <a:stretch>
            <a:fillRect/>
          </a:stretch>
        </p:blipFill>
        <p:spPr>
          <a:xfrm>
            <a:off x="311700" y="2571758"/>
            <a:ext cx="2972925" cy="1118141"/>
          </a:xfrm>
          <a:prstGeom prst="rect">
            <a:avLst/>
          </a:prstGeom>
          <a:noFill/>
          <a:ln>
            <a:noFill/>
          </a:ln>
        </p:spPr>
      </p:pic>
      <p:pic>
        <p:nvPicPr>
          <p:cNvPr id="139" name="Google Shape;139;p21"/>
          <p:cNvPicPr preferRelativeResize="0"/>
          <p:nvPr/>
        </p:nvPicPr>
        <p:blipFill>
          <a:blip r:embed="rId4">
            <a:alphaModFix/>
          </a:blip>
          <a:stretch>
            <a:fillRect/>
          </a:stretch>
        </p:blipFill>
        <p:spPr>
          <a:xfrm>
            <a:off x="3339725" y="2833500"/>
            <a:ext cx="2034975" cy="476950"/>
          </a:xfrm>
          <a:prstGeom prst="rect">
            <a:avLst/>
          </a:prstGeom>
          <a:noFill/>
          <a:ln>
            <a:noFill/>
          </a:ln>
        </p:spPr>
      </p:pic>
      <p:pic>
        <p:nvPicPr>
          <p:cNvPr id="140" name="Google Shape;140;p21"/>
          <p:cNvPicPr preferRelativeResize="0"/>
          <p:nvPr/>
        </p:nvPicPr>
        <p:blipFill>
          <a:blip r:embed="rId5">
            <a:alphaModFix/>
          </a:blip>
          <a:stretch>
            <a:fillRect/>
          </a:stretch>
        </p:blipFill>
        <p:spPr>
          <a:xfrm>
            <a:off x="6006252" y="2893227"/>
            <a:ext cx="2825999" cy="7633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s-419" sz="2220">
                <a:latin typeface="Times New Roman"/>
                <a:ea typeface="Times New Roman"/>
                <a:cs typeface="Times New Roman"/>
                <a:sym typeface="Times New Roman"/>
              </a:rPr>
              <a:t>P</a:t>
            </a:r>
            <a:r>
              <a:rPr lang="es-419" sz="2220">
                <a:latin typeface="Times New Roman"/>
                <a:ea typeface="Times New Roman"/>
                <a:cs typeface="Times New Roman"/>
                <a:sym typeface="Times New Roman"/>
              </a:rPr>
              <a:t>aso a paso para crear un repositorio en git y subirlo a github</a:t>
            </a:r>
            <a:endParaRPr sz="2220">
              <a:latin typeface="Times New Roman"/>
              <a:ea typeface="Times New Roman"/>
              <a:cs typeface="Times New Roman"/>
              <a:sym typeface="Times New Roman"/>
            </a:endParaRPr>
          </a:p>
        </p:txBody>
      </p:sp>
      <p:sp>
        <p:nvSpPr>
          <p:cNvPr id="146" name="Google Shape;146;p22"/>
          <p:cNvSpPr txBox="1"/>
          <p:nvPr>
            <p:ph idx="1" type="body"/>
          </p:nvPr>
        </p:nvSpPr>
        <p:spPr>
          <a:xfrm>
            <a:off x="311700" y="1152475"/>
            <a:ext cx="28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16. cuando </a:t>
            </a:r>
            <a:r>
              <a:rPr lang="es-419"/>
              <a:t>hayamos</a:t>
            </a:r>
            <a:r>
              <a:rPr lang="es-419"/>
              <a:t> guardado los cambios en el archivo volvemos a hacer el mismo proceso:</a:t>
            </a:r>
            <a:endParaRPr sz="1500"/>
          </a:p>
        </p:txBody>
      </p:sp>
      <p:sp>
        <p:nvSpPr>
          <p:cNvPr id="147" name="Google Shape;147;p22"/>
          <p:cNvSpPr txBox="1"/>
          <p:nvPr>
            <p:ph idx="1" type="body"/>
          </p:nvPr>
        </p:nvSpPr>
        <p:spPr>
          <a:xfrm>
            <a:off x="3248950" y="1152475"/>
            <a:ext cx="2639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17. y verificamos el archivo modificado</a:t>
            </a:r>
            <a:endParaRPr/>
          </a:p>
          <a:p>
            <a:pPr indent="0" lvl="0" marL="0" rtl="0" algn="l">
              <a:spcBef>
                <a:spcPts val="1200"/>
              </a:spcBef>
              <a:spcAft>
                <a:spcPts val="1200"/>
              </a:spcAft>
              <a:buNone/>
            </a:pPr>
            <a:r>
              <a:t/>
            </a:r>
            <a:endParaRPr/>
          </a:p>
        </p:txBody>
      </p:sp>
      <p:sp>
        <p:nvSpPr>
          <p:cNvPr id="148" name="Google Shape;148;p22"/>
          <p:cNvSpPr txBox="1"/>
          <p:nvPr>
            <p:ph idx="1" type="body"/>
          </p:nvPr>
        </p:nvSpPr>
        <p:spPr>
          <a:xfrm>
            <a:off x="6006250" y="1152475"/>
            <a:ext cx="28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18. y le ponemos un nuevo mensaje</a:t>
            </a:r>
            <a:endParaRPr/>
          </a:p>
        </p:txBody>
      </p:sp>
      <p:pic>
        <p:nvPicPr>
          <p:cNvPr id="149" name="Google Shape;149;p22"/>
          <p:cNvPicPr preferRelativeResize="0"/>
          <p:nvPr/>
        </p:nvPicPr>
        <p:blipFill>
          <a:blip r:embed="rId3">
            <a:alphaModFix/>
          </a:blip>
          <a:stretch>
            <a:fillRect/>
          </a:stretch>
        </p:blipFill>
        <p:spPr>
          <a:xfrm>
            <a:off x="145625" y="2954775"/>
            <a:ext cx="3103325" cy="269825"/>
          </a:xfrm>
          <a:prstGeom prst="rect">
            <a:avLst/>
          </a:prstGeom>
          <a:noFill/>
          <a:ln>
            <a:noFill/>
          </a:ln>
        </p:spPr>
      </p:pic>
      <p:pic>
        <p:nvPicPr>
          <p:cNvPr id="150" name="Google Shape;150;p22"/>
          <p:cNvPicPr preferRelativeResize="0"/>
          <p:nvPr/>
        </p:nvPicPr>
        <p:blipFill>
          <a:blip r:embed="rId4">
            <a:alphaModFix/>
          </a:blip>
          <a:stretch>
            <a:fillRect/>
          </a:stretch>
        </p:blipFill>
        <p:spPr>
          <a:xfrm>
            <a:off x="3248949" y="2571743"/>
            <a:ext cx="2757300" cy="675982"/>
          </a:xfrm>
          <a:prstGeom prst="rect">
            <a:avLst/>
          </a:prstGeom>
          <a:noFill/>
          <a:ln>
            <a:noFill/>
          </a:ln>
        </p:spPr>
      </p:pic>
      <p:pic>
        <p:nvPicPr>
          <p:cNvPr id="151" name="Google Shape;151;p22"/>
          <p:cNvPicPr preferRelativeResize="0"/>
          <p:nvPr/>
        </p:nvPicPr>
        <p:blipFill>
          <a:blip r:embed="rId5">
            <a:alphaModFix/>
          </a:blip>
          <a:stretch>
            <a:fillRect/>
          </a:stretch>
        </p:blipFill>
        <p:spPr>
          <a:xfrm>
            <a:off x="5999900" y="2418650"/>
            <a:ext cx="2832400" cy="462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44595"/>
              <a:buFont typeface="Arial"/>
              <a:buNone/>
            </a:pPr>
            <a:r>
              <a:rPr lang="es-419" sz="2220">
                <a:latin typeface="Times New Roman"/>
                <a:ea typeface="Times New Roman"/>
                <a:cs typeface="Times New Roman"/>
                <a:sym typeface="Times New Roman"/>
              </a:rPr>
              <a:t>P</a:t>
            </a:r>
            <a:r>
              <a:rPr lang="es-419" sz="2220">
                <a:latin typeface="Times New Roman"/>
                <a:ea typeface="Times New Roman"/>
                <a:cs typeface="Times New Roman"/>
                <a:sym typeface="Times New Roman"/>
              </a:rPr>
              <a:t>aso a paso para crear un repositorio en git y subirlo a github</a:t>
            </a:r>
            <a:endParaRPr sz="222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157" name="Google Shape;15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18. despues nos vamos a github y refrescamos la </a:t>
            </a:r>
            <a:r>
              <a:rPr lang="es-419"/>
              <a:t>página</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s-419"/>
              <a:t>ahí podremos visualizar que hemos subido dos commit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419"/>
              <a:t>y así sabremos que hemos actualizado nuestro archivo de tipo texto</a:t>
            </a:r>
            <a:endParaRPr/>
          </a:p>
        </p:txBody>
      </p:sp>
      <p:pic>
        <p:nvPicPr>
          <p:cNvPr id="158" name="Google Shape;158;p23"/>
          <p:cNvPicPr preferRelativeResize="0"/>
          <p:nvPr/>
        </p:nvPicPr>
        <p:blipFill>
          <a:blip r:embed="rId3">
            <a:alphaModFix/>
          </a:blip>
          <a:stretch>
            <a:fillRect/>
          </a:stretch>
        </p:blipFill>
        <p:spPr>
          <a:xfrm>
            <a:off x="261925" y="1689275"/>
            <a:ext cx="8620125" cy="971550"/>
          </a:xfrm>
          <a:prstGeom prst="rect">
            <a:avLst/>
          </a:prstGeom>
          <a:noFill/>
          <a:ln>
            <a:noFill/>
          </a:ln>
        </p:spPr>
      </p:pic>
      <p:pic>
        <p:nvPicPr>
          <p:cNvPr id="159" name="Google Shape;159;p23"/>
          <p:cNvPicPr preferRelativeResize="0"/>
          <p:nvPr/>
        </p:nvPicPr>
        <p:blipFill>
          <a:blip r:embed="rId4">
            <a:alphaModFix/>
          </a:blip>
          <a:stretch>
            <a:fillRect/>
          </a:stretch>
        </p:blipFill>
        <p:spPr>
          <a:xfrm>
            <a:off x="311700" y="2949775"/>
            <a:ext cx="1010650" cy="456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